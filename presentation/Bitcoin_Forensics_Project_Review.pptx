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PR-AUC</c:v>
                </c:pt>
              </c:strCache>
            </c:strRef>
          </c:tx>
          <c:spPr>
            <a:solidFill>
              <a:srgbClr val="8C8C8C"/>
            </a:solidFill>
            <a:effectLst/>
          </c:spPr>
          <c:invertIfNegative val="0"/>
          <c:dLbls>
            <c:numFmt formatCode="0.0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Random Forest</c:v>
                  </c:pt>
                  <c:pt idx="2">
                    <c:v>GraphSAGE, RobustScaler</c:v>
                  </c:pt>
                  <c:pt idx="3">
                    <c:v>GraphSAGE, Quantile</c:v>
                  </c:pt>
                </c:lvl>
              </c:multiLvlStrCache>
            </c:multiLvlStrRef>
          </c:cat>
          <c:val>
            <c:numRef>
              <c:f>Sheet1!$B$2:$B$5</c:f>
              <c:numCache>
                <c:formatCode>General</c:formatCode>
                <c:ptCount val="4"/>
                <c:pt idx="0">
                  <c:v>0.2889</c:v>
                </c:pt>
                <c:pt idx="1">
                  <c:v>0.5469</c:v>
                </c:pt>
                <c:pt idx="2">
                  <c:v>0.2212</c:v>
                </c:pt>
                <c:pt idx="3">
                  <c:v>0.5165</c:v>
                </c:pt>
              </c:numCache>
            </c:numRef>
          </c:val>
        </c:ser>
        <c:ser>
          <c:idx val="1"/>
          <c:order val="1"/>
          <c:tx>
            <c:strRef>
              <c:f>Sheet1!$C$1</c:f>
              <c:strCache>
                <c:ptCount val="1"/>
                <c:pt idx="0">
                  <c:v>F1</c:v>
                </c:pt>
              </c:strCache>
            </c:strRef>
          </c:tx>
          <c:spPr>
            <a:solidFill>
              <a:srgbClr val="A65204"/>
            </a:solidFill>
            <a:effectLst/>
          </c:spPr>
          <c:invertIfNegative val="0"/>
          <c:dLbls>
            <c:numFmt formatCode="0.0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Random Forest</c:v>
                  </c:pt>
                  <c:pt idx="2">
                    <c:v>GraphSAGE, RobustScaler</c:v>
                  </c:pt>
                  <c:pt idx="3">
                    <c:v>GraphSAGE, Quantile</c:v>
                  </c:pt>
                </c:lvl>
              </c:multiLvlStrCache>
            </c:multiLvlStrRef>
          </c:cat>
          <c:val>
            <c:numRef>
              <c:f>Sheet1!$C$2:$C$5</c:f>
              <c:numCache>
                <c:formatCode>General</c:formatCode>
                <c:ptCount val="4"/>
                <c:pt idx="0">
                  <c:v>0.4256</c:v>
                </c:pt>
                <c:pt idx="1">
                  <c:v>0.6069</c:v>
                </c:pt>
                <c:pt idx="2">
                  <c:v>0.3113</c:v>
                </c:pt>
                <c:pt idx="3">
                  <c:v>0.5317</c:v>
                </c:pt>
              </c:numCache>
            </c:numRef>
          </c:val>
        </c:ser>
        <c:dLbls>
          <c:numFmt formatCode="0.0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9595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ROC-AUC</c:v>
                </c:pt>
              </c:strCache>
            </c:strRef>
          </c:tx>
          <c:spPr>
            <a:solidFill>
              <a:srgbClr val="A65204"/>
            </a:solidFill>
            <a:effectLst/>
          </c:spPr>
          <c:invertIfNegative val="0"/>
          <c:dLbls>
            <c:numFmt formatCode="0.0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A65204"/>
              </a:solidFill>
              <a:effectLst/>
            </c:spPr>
          </c:dPt>
          <c:dPt>
            <c:idx val="1"/>
            <c:invertIfNegative val="0"/>
            <c:bubble3D val="0"/>
            <c:spPr>
              <a:solidFill>
                <a:srgbClr val="8C8C8C"/>
              </a:solidFill>
              <a:effectLst/>
            </c:spPr>
          </c:dPt>
          <c:dPt>
            <c:idx val="2"/>
            <c:invertIfNegative val="0"/>
            <c:bubble3D val="0"/>
            <c:spPr>
              <a:solidFill>
                <a:srgbClr val="8C8C8C"/>
              </a:solidFill>
              <a:effectLst/>
            </c:spPr>
          </c:dPt>
          <c:dPt>
            <c:idx val="3"/>
            <c:invertIfNegative val="0"/>
            <c:bubble3D val="0"/>
            <c:spPr>
              <a:solidFill>
                <a:srgbClr val="8C8C8C"/>
              </a:solidFill>
              <a:effectLst/>
            </c:spPr>
          </c:dPt>
          <c:dPt>
            <c:idx val="4"/>
            <c:invertIfNegative val="0"/>
            <c:bubble3D val="0"/>
            <c:spPr>
              <a:solidFill>
                <a:srgbClr val="8C8C8C"/>
              </a:solidFill>
              <a:effectLst/>
            </c:spPr>
          </c:dPt>
          <c:dPt>
            <c:idx val="5"/>
            <c:invertIfNegative val="0"/>
            <c:bubble3D val="0"/>
            <c:spPr>
              <a:solidFill>
                <a:srgbClr val="8C8C8C"/>
              </a:solidFill>
              <a:effectLst/>
            </c:spPr>
          </c:dPt>
          <c:cat>
            <c:multiLvlStrRef>
              <c:f>Sheet1!$A$2:$A$7</c:f>
              <c:multiLvlStrCache>
                <c:ptCount val="6"/>
                <c:lvl>
                  <c:pt idx="0">
                    <c:v>Full model (186)</c:v>
                  </c:pt>
                  <c:pt idx="1">
                    <c:v>No new features (171)</c:v>
                  </c:pt>
                  <c:pt idx="2">
                    <c:v>Minus Financial</c:v>
                  </c:pt>
                  <c:pt idx="3">
                    <c:v>Minus Structural</c:v>
                  </c:pt>
                  <c:pt idx="4">
                    <c:v>Minus Temporal</c:v>
                  </c:pt>
                  <c:pt idx="5">
                    <c:v>Minus Network</c:v>
                  </c:pt>
                </c:lvl>
              </c:multiLvlStrCache>
            </c:multiLvlStrRef>
          </c:cat>
          <c:val>
            <c:numRef>
              <c:f>Sheet1!$B$2:$B$7</c:f>
              <c:numCache>
                <c:formatCode>General</c:formatCode>
                <c:ptCount val="6"/>
                <c:pt idx="0">
                  <c:v>0.8368</c:v>
                </c:pt>
                <c:pt idx="1">
                  <c:v>0.8136</c:v>
                </c:pt>
                <c:pt idx="2">
                  <c:v>0.8172</c:v>
                </c:pt>
                <c:pt idx="3">
                  <c:v>0.8174</c:v>
                </c:pt>
                <c:pt idx="4">
                  <c:v>0.795</c:v>
                </c:pt>
                <c:pt idx="5">
                  <c:v>0.8141</c:v>
                </c:pt>
              </c:numCache>
            </c:numRef>
          </c:val>
        </c:ser>
        <c:dLbls>
          <c:numFmt formatCode="0.0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0.86"/>
          <c:min val="0.75"/>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review. The same content is in the interactive dashboard in the repository (dashboard/index.html). Every number in this deck comes from the notebooks and result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Elliptic++ is a graph of Bitcoin transactions. Most are unlabelled, and the illicit share drops over time, which is why accuracy is useless and why we split by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forensic model is applied to later activity than it learned from. All 234,355 edges join two transactions of the same time step, so no edge crosses the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from Review I. The finished project follows it, with a temporal-availability audit added after the data audit and a frozen pipeline before Stage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stages from raw files to the transaction-level report. The notebooks 01 to 08 hold these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never say the features are leaked. We say strong evidence of a temporal-availability concern. 13 features, 1 potential, 2 unclear. 150 were not examined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feature uses history up to the transaction's own time step. TMP6 uses strictly earlier steps. An early TMP1 and TMP2 bug measured age from one role only and was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loss was in the hundreds of thousands. The cause was a divisor close to zero, not large raw values. One change, the scaler, took mean test PR-AUC from 0.2212 to 0.5165 over four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lists every one with why we ran it, what changed, the result and what we learned. Failed and replaced ones are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Random Forest honestly. It is a single run on 184 features. GraphSAGE has four seeds. A fair Random Forest on feature set B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run without temporal features has lower ROC-AUC than every full run. PR-AUC and F1 do not move robustly. The families overlap, so this is an association.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0.90, 12,344 are flagged. That is a prioritisation list. On the labelled test period the same threshold had precision 0.608. Scores print as 1.000000 because of softmax saturation, so rank by logit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answers a different question. A feature can be unusual without moving the model, and the reverse. The analyzer never says fraud or not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3, time step 46, score 1.000000, band HIGH. TMP5 is 320 against overall and class medians of 0, 3 and 0. FIN3 equals 1.0 yet sits at the 73rd percentile, so it is not unusual, although the model reacts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limits. The next experiment that matters most is Random Forest on feature set B with the same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dashboard/index.html from the repository. Click nodes, switch scalers, drag the threshold, and open any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C8C8C"/>
                </a:solidFill>
              </a:rPr>
              <a:t>Bitcoin Transaction Forensics</a:t>
            </a:r>
            <a:endParaRPr lang="en-US" sz="1000" dirty="0"/>
          </a:p>
        </p:txBody>
      </p:sp>
      <p:sp>
        <p:nvSpPr>
          <p:cNvPr id="3" name="Text 1"/>
          <p:cNvSpPr/>
          <p:nvPr>
            <p:ph idx="101" type="title" hasCustomPrompt="1"/>
          </p:nvPr>
        </p:nvSpPr>
        <p:spPr>
          <a:xfrm>
            <a:off x="548640" y="365760"/>
            <a:ext cx="11064240" cy="822960"/>
          </a:xfrm>
          <a:prstGeom prst="rect">
            <a:avLst/>
          </a:prstGeom>
          <a:noFill/>
          <a:ln/>
        </p:spPr>
        <p:txBody>
          <a:bodyPr wrap="square" rtlCol="0"/>
          <a:lstStyle>
            <a:lvl1pPr algn="l" indent="0" marL="0">
              <a:buNone/>
              <a:defRPr lang="en-US" sz="3000" b="1" dirty="0">
                <a:solidFill>
                  <a:srgbClr val="1A1A1A"/>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koush\AppData\Local\Temp\rep2\ppt_media\image-1-1.png">    </p:cNvPr>
          <p:cNvPicPr>
            <a:picLocks noChangeAspect="1"/>
          </p:cNvPicPr>
          <p:nvPr/>
        </p:nvPicPr>
        <p:blipFill>
          <a:blip r:embed="rId1"/>
          <a:stretch>
            <a:fillRect/>
          </a:stretch>
        </p:blipFill>
        <p:spPr>
          <a:xfrm>
            <a:off x="548640" y="457200"/>
            <a:ext cx="3291840" cy="977475"/>
          </a:xfrm>
          <a:prstGeom prst="rect">
            <a:avLst/>
          </a:prstGeom>
        </p:spPr>
      </p:pic>
      <p:sp>
        <p:nvSpPr>
          <p:cNvPr id="3" name="Text 0"/>
          <p:cNvSpPr txBox="1"/>
          <p:nvPr/>
        </p:nvSpPr>
        <p:spPr>
          <a:xfrm>
            <a:off x="548640" y="1920240"/>
            <a:ext cx="10058400" cy="1188720"/>
          </a:xfrm>
          <a:prstGeom prst="rect">
            <a:avLst/>
          </a:prstGeom>
          <a:noFill/>
          <a:ln/>
        </p:spPr>
        <p:txBody>
          <a:bodyPr wrap="square" lIns="0" tIns="0" rIns="0" bIns="0" rtlCol="0" anchor="t"/>
          <a:lstStyle/>
          <a:p>
            <a:pPr indent="0" marL="0">
              <a:buNone/>
            </a:pPr>
            <a:r>
              <a:rPr lang="en-US" sz="3400" b="1" dirty="0">
                <a:solidFill>
                  <a:srgbClr val="1A1A1A"/>
                </a:solidFill>
              </a:rPr>
              <a:t>Bitcoin Transaction Forensics for Suspicious Activity Detection</a:t>
            </a:r>
            <a:endParaRPr lang="en-US" sz="3400" dirty="0"/>
          </a:p>
        </p:txBody>
      </p:sp>
      <p:sp>
        <p:nvSpPr>
          <p:cNvPr id="4" name="Text 1"/>
          <p:cNvSpPr txBox="1"/>
          <p:nvPr/>
        </p:nvSpPr>
        <p:spPr>
          <a:xfrm>
            <a:off x="548640" y="3200400"/>
            <a:ext cx="10515600" cy="548640"/>
          </a:xfrm>
          <a:prstGeom prst="rect">
            <a:avLst/>
          </a:prstGeom>
          <a:noFill/>
          <a:ln/>
        </p:spPr>
        <p:txBody>
          <a:bodyPr wrap="square" lIns="0" tIns="0" rIns="0" bIns="0" rtlCol="0" anchor="ctr"/>
          <a:lstStyle/>
          <a:p>
            <a:pPr indent="0" marL="0">
              <a:buNone/>
            </a:pPr>
            <a:r>
              <a:rPr lang="en-US" sz="2600" dirty="0">
                <a:solidFill>
                  <a:srgbClr val="A65204"/>
                </a:solidFill>
              </a:rPr>
              <a:t>Using Behavioural and Network Analysis</a:t>
            </a:r>
            <a:endParaRPr lang="en-US" sz="2600" dirty="0"/>
          </a:p>
        </p:txBody>
      </p:sp>
      <p:sp>
        <p:nvSpPr>
          <p:cNvPr id="5" name="Text 2"/>
          <p:cNvSpPr txBox="1"/>
          <p:nvPr/>
        </p:nvSpPr>
        <p:spPr>
          <a:xfrm>
            <a:off x="548640" y="4206240"/>
            <a:ext cx="10515600" cy="2011680"/>
          </a:xfrm>
          <a:prstGeom prst="rect">
            <a:avLst/>
          </a:prstGeom>
          <a:noFill/>
          <a:ln/>
        </p:spPr>
        <p:txBody>
          <a:bodyPr wrap="square" lIns="0" tIns="0" rIns="0" bIns="0" rtlCol="0" anchor="t"/>
          <a:lstStyle/>
          <a:p>
            <a:pPr indent="0" marL="0">
              <a:spcAft>
                <a:spcPts val="600"/>
              </a:spcAft>
              <a:buNone/>
            </a:pPr>
            <a:r>
              <a:rPr lang="en-US" sz="1800" dirty="0">
                <a:solidFill>
                  <a:srgbClr val="1A1A1A"/>
                </a:solidFill>
              </a:rPr>
              <a:t>Krishna Koushik, 23MIA1107</a:t>
            </a:r>
            <a:endParaRPr lang="en-US" sz="1800" dirty="0"/>
          </a:p>
          <a:p>
            <a:pPr indent="0" marL="0">
              <a:spcAft>
                <a:spcPts val="600"/>
              </a:spcAft>
              <a:buNone/>
            </a:pPr>
            <a:r>
              <a:rPr lang="en-US" sz="1800" dirty="0">
                <a:solidFill>
                  <a:srgbClr val="1A1A1A"/>
                </a:solidFill>
              </a:rPr>
              <a:t>Peta Siva Nandhan Reddy, 23MIA1111</a:t>
            </a:r>
            <a:endParaRPr lang="en-US" sz="1800" dirty="0"/>
          </a:p>
          <a:p>
            <a:pPr indent="0" marL="0">
              <a:spcAft>
                <a:spcPts val="600"/>
              </a:spcAft>
              <a:buNone/>
            </a:pPr>
            <a:r>
              <a:rPr lang="en-US" sz="1800" dirty="0">
                <a:solidFill>
                  <a:srgbClr val="1A1A1A"/>
                </a:solidFill>
              </a:rPr>
              <a:t>CSE4074 Forensic Analytics, Fall 2026-27</a:t>
            </a:r>
            <a:endParaRPr lang="en-US" sz="1800" dirty="0"/>
          </a:p>
          <a:p>
            <a:pPr indent="0" marL="0">
              <a:spcAft>
                <a:spcPts val="600"/>
              </a:spcAft>
              <a:buNone/>
            </a:pPr>
            <a:r>
              <a:rPr lang="en-US" sz="1800" dirty="0">
                <a:solidFill>
                  <a:srgbClr val="1A1A1A"/>
                </a:solidFill>
              </a:rPr>
              <a:t>Professor: Dr. S. Johanan Joysingh</a:t>
            </a:r>
            <a:endParaRPr lang="en-US" sz="1800" dirty="0"/>
          </a:p>
          <a:p>
            <a:pPr indent="0" marL="0">
              <a:spcAft>
                <a:spcPts val="600"/>
              </a:spcAft>
              <a:buNone/>
            </a:pPr>
            <a:r>
              <a:rPr lang="en-US" sz="1800" dirty="0">
                <a:solidFill>
                  <a:srgbClr val="1A1A1A"/>
                </a:solidFill>
              </a:rPr>
              <a:t>School of Computer Science Engineering and Information Systems (SCOPE), VIT Chennai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A public ledger does not say who is suspicious</a:t>
            </a:r>
            <a:endParaRPr lang="en-US" sz="3000" dirty="0"/>
          </a:p>
        </p:txBody>
      </p:sp>
      <p:sp>
        <p:nvSpPr>
          <p:cNvPr id="4" name="Text 1"/>
          <p:cNvSpPr txBox="1"/>
          <p:nvPr/>
        </p:nvSpPr>
        <p:spPr>
          <a:xfrm>
            <a:off x="548640" y="1463040"/>
            <a:ext cx="5120640" cy="43891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1A1A1A"/>
                </a:solidFill>
              </a:rPr>
              <a:t>Elliptic++ has 203,769 transactions and 234,355 edges between them.</a:t>
            </a:r>
            <a:endParaRPr lang="en-US" sz="1800" dirty="0"/>
          </a:p>
          <a:p>
            <a:pPr marL="342900" indent="-342900">
              <a:spcAft>
                <a:spcPts val="800"/>
              </a:spcAft>
              <a:buSzPct val="100000"/>
              <a:buChar char="•"/>
            </a:pPr>
            <a:r>
              <a:rPr lang="en-US" sz="1800" dirty="0">
                <a:solidFill>
                  <a:srgbClr val="1A1A1A"/>
                </a:solidFill>
              </a:rPr>
              <a:t>Only 22.85% carry a label. Illicit transactions are 2.23% of all nodes.</a:t>
            </a:r>
            <a:endParaRPr lang="en-US" sz="1800" dirty="0"/>
          </a:p>
          <a:p>
            <a:pPr marL="342900" indent="-342900">
              <a:spcAft>
                <a:spcPts val="800"/>
              </a:spcAft>
              <a:buSzPct val="100000"/>
              <a:buChar char="•"/>
            </a:pPr>
            <a:r>
              <a:rPr lang="en-US" sz="1800" dirty="0">
                <a:solidFill>
                  <a:srgbClr val="1A1A1A"/>
                </a:solidFill>
              </a:rPr>
              <a:t>Among labelled transactions the illicit share falls from 11.58% in training to 4.61% in test.</a:t>
            </a:r>
            <a:endParaRPr lang="en-US" sz="1800" dirty="0"/>
          </a:p>
          <a:p>
            <a:pPr marL="342900" indent="-342900">
              <a:spcAft>
                <a:spcPts val="800"/>
              </a:spcAft>
              <a:buSzPct val="100000"/>
              <a:buChar char="•"/>
            </a:pPr>
            <a:r>
              <a:rPr lang="en-US" sz="1800" dirty="0">
                <a:solidFill>
                  <a:srgbClr val="1A1A1A"/>
                </a:solidFill>
              </a:rPr>
              <a:t>Unknown is never treated as licit.</a:t>
            </a:r>
            <a:endParaRPr lang="en-US" sz="1800" dirty="0"/>
          </a:p>
          <a:p>
            <a:pPr marL="342900" indent="-342900">
              <a:spcAft>
                <a:spcPts val="800"/>
              </a:spcAft>
              <a:buSzPct val="100000"/>
              <a:buChar char="•"/>
            </a:pPr>
            <a:r>
              <a:rPr lang="en-US" sz="1800" dirty="0">
                <a:solidFill>
                  <a:srgbClr val="1A1A1A"/>
                </a:solidFill>
              </a:rPr>
              <a:t>The goal is a ranking with evidence, not a verdict.</a:t>
            </a:r>
            <a:endParaRPr lang="en-US" sz="1800" dirty="0"/>
          </a:p>
        </p:txBody>
      </p:sp>
      <p:pic>
        <p:nvPicPr>
          <p:cNvPr id="5" name="Image 0" descr="C:\Users\koush\AppData\Local\Temp\claude\C--Users-koush-OneDrive-Documents-Financial-Forensics\91538277-9cdb-458b-a31d-87e91c32cb6c\scratchpad\shots\facts.png">    </p:cNvPr>
          <p:cNvPicPr>
            <a:picLocks noChangeAspect="1"/>
          </p:cNvPicPr>
          <p:nvPr/>
        </p:nvPicPr>
        <p:blipFill>
          <a:blip r:embed="rId1"/>
          <a:stretch>
            <a:fillRect/>
          </a:stretch>
        </p:blipFill>
        <p:spPr>
          <a:xfrm>
            <a:off x="5943600" y="1463040"/>
            <a:ext cx="5669280" cy="3188970"/>
          </a:xfrm>
          <a:prstGeom prst="rect">
            <a:avLst/>
          </a:prstGeom>
        </p:spPr>
      </p:pic>
      <p:sp>
        <p:nvSpPr>
          <p:cNvPr id="6" name="Text 2"/>
          <p:cNvSpPr txBox="1"/>
          <p:nvPr/>
        </p:nvSpPr>
        <p:spPr>
          <a:xfrm>
            <a:off x="5943600" y="4725162"/>
            <a:ext cx="5669280" cy="457200"/>
          </a:xfrm>
          <a:prstGeom prst="rect">
            <a:avLst/>
          </a:prstGeom>
          <a:noFill/>
          <a:ln/>
        </p:spPr>
        <p:txBody>
          <a:bodyPr wrap="square" lIns="0" tIns="0" rIns="0" bIns="0" rtlCol="0" anchor="t"/>
          <a:lstStyle/>
          <a:p>
            <a:pPr indent="0" marL="0">
              <a:buNone/>
            </a:pPr>
            <a:r>
              <a:rPr lang="en-US" sz="1200" dirty="0">
                <a:solidFill>
                  <a:srgbClr val="595959"/>
                </a:solidFill>
              </a:rPr>
              <a:t>Dashboard view: class mix of the graph. The nodes are an illustrative sample.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Split by time, never at random</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486400" cy="914400"/>
        </p:xfrm>
        <a:graphic>
          <a:graphicData uri="http://schemas.openxmlformats.org/drawingml/2006/table">
            <a:tbl>
              <a:tblPr/>
              <a:tblGrid>
                <a:gridCol w="1280160"/>
                <a:gridCol w="1097280"/>
                <a:gridCol w="1005840"/>
                <a:gridCol w="1097280"/>
                <a:gridCol w="1005840"/>
              </a:tblGrid>
              <a:tr h="411480">
                <a:tc>
                  <a:txBody>
                    <a:bodyPr/>
                    <a:lstStyle/>
                    <a:p>
                      <a:pPr indent="0" marL="0">
                        <a:buNone/>
                      </a:pPr>
                      <a:r>
                        <a:rPr lang="en-US" sz="1300" b="1" dirty="0">
                          <a:solidFill>
                            <a:srgbClr val="595959"/>
                          </a:solidFill>
                        </a:rPr>
                        <a:t>Period</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300" b="1" dirty="0">
                          <a:solidFill>
                            <a:srgbClr val="595959"/>
                          </a:solidFill>
                        </a:rPr>
                        <a:t>Time steps</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300" b="1" dirty="0">
                          <a:solidFill>
                            <a:srgbClr val="595959"/>
                          </a:solidFill>
                        </a:rPr>
                        <a:t>Labelled</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300" b="1" dirty="0">
                          <a:solidFill>
                            <a:srgbClr val="595959"/>
                          </a:solidFill>
                        </a:rPr>
                        <a:t>Illicit share</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300" b="1" dirty="0">
                          <a:solidFill>
                            <a:srgbClr val="595959"/>
                          </a:solidFill>
                        </a:rPr>
                        <a:t>Edges inside</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411480">
                <a:tc>
                  <a:txBody>
                    <a:bodyPr/>
                    <a:lstStyle/>
                    <a:p>
                      <a:pPr indent="0" marL="0">
                        <a:buNone/>
                      </a:pPr>
                      <a:r>
                        <a:rPr lang="en-US" sz="1400" dirty="0">
                          <a:solidFill>
                            <a:srgbClr val="1A1A1A"/>
                          </a:solidFill>
                        </a:rPr>
                        <a:t>Training</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1 to 34</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29,894</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11.58%</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156,843</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411480">
                <a:tc>
                  <a:txBody>
                    <a:bodyPr/>
                    <a:lstStyle/>
                    <a:p>
                      <a:pPr indent="0" marL="0">
                        <a:buNone/>
                      </a:pPr>
                      <a:r>
                        <a:rPr lang="en-US" sz="1400" dirty="0">
                          <a:solidFill>
                            <a:srgbClr val="1A1A1A"/>
                          </a:solidFill>
                        </a:rPr>
                        <a:t>Validation</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35 to 41</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7,829</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8.62%</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35,360</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411480">
                <a:tc>
                  <a:txBody>
                    <a:bodyPr/>
                    <a:lstStyle/>
                    <a:p>
                      <a:pPr indent="0" marL="0">
                        <a:buNone/>
                      </a:pPr>
                      <a:r>
                        <a:rPr lang="en-US" sz="1400" dirty="0">
                          <a:solidFill>
                            <a:srgbClr val="1A1A1A"/>
                          </a:solidFill>
                        </a:rPr>
                        <a:t>Test</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42 to 49</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8,841</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4.61%</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42,152</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bl>
          </a:graphicData>
        </a:graphic>
      </p:graphicFrame>
      <p:sp>
        <p:nvSpPr>
          <p:cNvPr id="5" name="Text 1"/>
          <p:cNvSpPr txBox="1"/>
          <p:nvPr/>
        </p:nvSpPr>
        <p:spPr>
          <a:xfrm>
            <a:off x="548640" y="3749040"/>
            <a:ext cx="548640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A1A"/>
                </a:solidFill>
              </a:rPr>
              <a:t>Edges between different periods: 0.</a:t>
            </a:r>
            <a:endParaRPr lang="en-US" sz="1600" dirty="0"/>
          </a:p>
          <a:p>
            <a:pPr marL="342900" indent="-342900">
              <a:spcAft>
                <a:spcPts val="800"/>
              </a:spcAft>
              <a:buSzPct val="100000"/>
              <a:buChar char="•"/>
            </a:pPr>
            <a:r>
              <a:rPr lang="en-US" sz="1600" dirty="0">
                <a:solidFill>
                  <a:srgbClr val="1A1A1A"/>
                </a:solidFill>
              </a:rPr>
              <a:t>A node never reads a neighbour from another period.</a:t>
            </a:r>
            <a:endParaRPr lang="en-US" sz="1600" dirty="0"/>
          </a:p>
          <a:p>
            <a:pPr marL="342900" indent="-342900">
              <a:spcAft>
                <a:spcPts val="800"/>
              </a:spcAft>
              <a:buSzPct val="100000"/>
              <a:buChar char="•"/>
            </a:pPr>
            <a:r>
              <a:rPr lang="en-US" sz="1600" dirty="0">
                <a:solidFill>
                  <a:srgbClr val="1A1A1A"/>
                </a:solidFill>
              </a:rPr>
              <a:t>Order inside a time step cannot be recovered.</a:t>
            </a:r>
            <a:endParaRPr lang="en-US" sz="1600" dirty="0"/>
          </a:p>
        </p:txBody>
      </p:sp>
      <p:pic>
        <p:nvPicPr>
          <p:cNvPr id="6" name="Image 0" descr="C:\Users\koush\AppData\Local\Temp\claude\C--Users-koush-OneDrive-Documents-Financial-Forensics\91538277-9cdb-458b-a31d-87e91c32cb6c\scratchpad\shots\split.png">    </p:cNvPr>
          <p:cNvPicPr>
            <a:picLocks noChangeAspect="1"/>
          </p:cNvPicPr>
          <p:nvPr/>
        </p:nvPicPr>
        <p:blipFill>
          <a:blip r:embed="rId1"/>
          <a:stretch>
            <a:fillRect/>
          </a:stretch>
        </p:blipFill>
        <p:spPr>
          <a:xfrm>
            <a:off x="6309360" y="1463040"/>
            <a:ext cx="5303520" cy="2983230"/>
          </a:xfrm>
          <a:prstGeom prst="rect">
            <a:avLst/>
          </a:prstGeom>
        </p:spPr>
      </p:pic>
      <p:sp>
        <p:nvSpPr>
          <p:cNvPr id="7" name="Text 2"/>
          <p:cNvSpPr txBox="1"/>
          <p:nvPr/>
        </p:nvSpPr>
        <p:spPr>
          <a:xfrm>
            <a:off x="6309360" y="4519422"/>
            <a:ext cx="5303520" cy="457200"/>
          </a:xfrm>
          <a:prstGeom prst="rect">
            <a:avLst/>
          </a:prstGeom>
          <a:noFill/>
          <a:ln/>
        </p:spPr>
        <p:txBody>
          <a:bodyPr wrap="square" lIns="0" tIns="0" rIns="0" bIns="0" rtlCol="0" anchor="t"/>
          <a:lstStyle/>
          <a:p>
            <a:pPr indent="0" marL="0">
              <a:buNone/>
            </a:pPr>
            <a:r>
              <a:rPr lang="en-US" sz="1200" dirty="0">
                <a:solidFill>
                  <a:srgbClr val="595959"/>
                </a:solidFill>
              </a:rPr>
              <a:t>Dashboard view: each column is a time step.</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Four stages from data to evidence</a:t>
            </a:r>
            <a:endParaRPr lang="en-US" sz="3000" dirty="0"/>
          </a:p>
        </p:txBody>
      </p:sp>
      <p:pic>
        <p:nvPicPr>
          <p:cNvPr id="4" name="Image 0" descr="C:\Users\koush\AppData\Local\Temp\rep2\ppt_media\image-12-1.png">    </p:cNvPr>
          <p:cNvPicPr>
            <a:picLocks noChangeAspect="1"/>
          </p:cNvPicPr>
          <p:nvPr/>
        </p:nvPicPr>
        <p:blipFill>
          <a:blip r:embed="rId1"/>
          <a:stretch>
            <a:fillRect/>
          </a:stretch>
        </p:blipFill>
        <p:spPr>
          <a:xfrm>
            <a:off x="822960" y="1371600"/>
            <a:ext cx="10515600" cy="4694357"/>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The implemented pipeline, step by step</a:t>
            </a:r>
            <a:endParaRPr lang="en-US" sz="3000" dirty="0"/>
          </a:p>
        </p:txBody>
      </p:sp>
      <p:pic>
        <p:nvPicPr>
          <p:cNvPr id="4" name="Image 0" descr="C:\Users\koush\AppData\Local\Temp\claude\C--Users-koush-OneDrive-Documents-Financial-Forensics\91538277-9cdb-458b-a31d-87e91c32cb6c\scratchpad\figs\fig_pipeline.png">    </p:cNvPr>
          <p:cNvPicPr>
            <a:picLocks noChangeAspect="1"/>
          </p:cNvPicPr>
          <p:nvPr/>
        </p:nvPicPr>
        <p:blipFill>
          <a:blip r:embed="rId1"/>
          <a:stretch>
            <a:fillRect/>
          </a:stretch>
        </p:blipFill>
        <p:spPr>
          <a:xfrm>
            <a:off x="1005840" y="1371600"/>
            <a:ext cx="10149840" cy="4857423"/>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Could the inherited features know the future?</a:t>
            </a:r>
            <a:endParaRPr lang="en-US" sz="3000" dirty="0"/>
          </a:p>
        </p:txBody>
      </p:sp>
      <p:sp>
        <p:nvSpPr>
          <p:cNvPr id="4" name="Text 1"/>
          <p:cNvSpPr txBox="1"/>
          <p:nvPr/>
        </p:nvSpPr>
        <p:spPr>
          <a:xfrm>
            <a:off x="548640" y="1463040"/>
            <a:ext cx="5669280" cy="4572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A1A"/>
                </a:solidFill>
              </a:rPr>
              <a:t>273,268 addresses: wallet statistics never change across time steps.</a:t>
            </a:r>
            <a:endParaRPr lang="en-US" sz="1700" dirty="0"/>
          </a:p>
          <a:p>
            <a:pPr marL="342900" indent="-342900">
              <a:spcAft>
                <a:spcPts val="800"/>
              </a:spcAft>
              <a:buSzPct val="100000"/>
              <a:buChar char="•"/>
            </a:pPr>
            <a:r>
              <a:rPr lang="en-US" sz="1700" dirty="0">
                <a:solidFill>
                  <a:srgbClr val="1A1A1A"/>
                </a:solidFill>
              </a:rPr>
              <a:t>Local_feature_53 did not match its documented statistic (Spearman 0.451).</a:t>
            </a:r>
            <a:endParaRPr lang="en-US" sz="1700" dirty="0"/>
          </a:p>
          <a:p>
            <a:pPr marL="342900" indent="-342900">
              <a:spcAft>
                <a:spcPts val="800"/>
              </a:spcAft>
              <a:buSzPct val="100000"/>
              <a:buChar char="•"/>
            </a:pPr>
            <a:r>
              <a:rPr lang="en-US" sz="1700" dirty="0">
                <a:solidFill>
                  <a:srgbClr val="1A1A1A"/>
                </a:solidFill>
              </a:rPr>
              <a:t>Local_feature_41 and 47 both match the sender count, against the dictionary.</a:t>
            </a:r>
            <a:endParaRPr lang="en-US" sz="1700" dirty="0"/>
          </a:p>
          <a:p>
            <a:pPr marL="342900" indent="-342900">
              <a:spcAft>
                <a:spcPts val="800"/>
              </a:spcAft>
              <a:buSzPct val="100000"/>
              <a:buChar char="•"/>
            </a:pPr>
            <a:r>
              <a:rPr lang="en-US" sz="1700" dirty="0">
                <a:solidFill>
                  <a:srgbClr val="1A1A1A"/>
                </a:solidFill>
              </a:rPr>
              <a:t>All wallet columns together predict features 53, 41, 47 and 23 (R2 0.80 to 0.98).</a:t>
            </a:r>
            <a:endParaRPr lang="en-US" sz="1700" dirty="0"/>
          </a:p>
          <a:p>
            <a:pPr marL="342900" indent="-342900">
              <a:spcAft>
                <a:spcPts val="800"/>
              </a:spcAft>
              <a:buSzPct val="100000"/>
              <a:buChar char="•"/>
            </a:pPr>
            <a:r>
              <a:rPr lang="en-US" sz="1700" dirty="0">
                <a:solidFill>
                  <a:srgbClr val="1A1A1A"/>
                </a:solidFill>
              </a:rPr>
              <a:t>Result: 13 features with strong evidence of a concern, 1 potential, 2 unclear.</a:t>
            </a:r>
            <a:endParaRPr lang="en-US" sz="1700" dirty="0"/>
          </a:p>
          <a:p>
            <a:pPr marL="342900" indent="-342900">
              <a:spcAft>
                <a:spcPts val="800"/>
              </a:spcAft>
              <a:buSzPct val="100000"/>
              <a:buChar char="•"/>
            </a:pPr>
            <a:r>
              <a:rPr lang="en-US" sz="1700" dirty="0">
                <a:solidFill>
                  <a:srgbClr val="1A1A1A"/>
                </a:solidFill>
              </a:rPr>
              <a:t>Claim: a temporal-availability concern, not proof of leakage.</a:t>
            </a:r>
            <a:endParaRPr lang="en-US" sz="1700" dirty="0"/>
          </a:p>
        </p:txBody>
      </p:sp>
      <p:pic>
        <p:nvPicPr>
          <p:cNvPr id="5" name="Image 0" descr="C:\Users\koush\AppData\Local\Temp\claude\C--Users-koush-OneDrive-Documents-Financial-Forensics\91538277-9cdb-458b-a31d-87e91c32cb6c\scratchpad\shots\leak.png">    </p:cNvPr>
          <p:cNvPicPr>
            <a:picLocks noChangeAspect="1"/>
          </p:cNvPicPr>
          <p:nvPr/>
        </p:nvPicPr>
        <p:blipFill>
          <a:blip r:embed="rId1"/>
          <a:stretch>
            <a:fillRect/>
          </a:stretch>
        </p:blipFill>
        <p:spPr>
          <a:xfrm>
            <a:off x="6400800" y="1463040"/>
            <a:ext cx="5212080" cy="2931795"/>
          </a:xfrm>
          <a:prstGeom prst="rect">
            <a:avLst/>
          </a:prstGeom>
        </p:spPr>
      </p:pic>
      <p:sp>
        <p:nvSpPr>
          <p:cNvPr id="6" name="Text 2"/>
          <p:cNvSpPr txBox="1"/>
          <p:nvPr/>
        </p:nvSpPr>
        <p:spPr>
          <a:xfrm>
            <a:off x="6400800" y="4467987"/>
            <a:ext cx="5212080" cy="457200"/>
          </a:xfrm>
          <a:prstGeom prst="rect">
            <a:avLst/>
          </a:prstGeom>
          <a:noFill/>
          <a:ln/>
        </p:spPr>
        <p:txBody>
          <a:bodyPr wrap="square" lIns="0" tIns="0" rIns="0" bIns="0" rtlCol="0" anchor="t"/>
          <a:lstStyle/>
          <a:p>
            <a:pPr indent="0" marL="0">
              <a:buNone/>
            </a:pPr>
            <a:r>
              <a:rPr lang="en-US" sz="1200" dirty="0">
                <a:solidFill>
                  <a:srgbClr val="595959"/>
                </a:solidFill>
              </a:rPr>
              <a:t>Dashboard view: static wallet records reach transactions in many time steps.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Fourteen features built only from the past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852160" cy="914400"/>
        </p:xfrm>
        <a:graphic>
          <a:graphicData uri="http://schemas.openxmlformats.org/drawingml/2006/table">
            <a:tbl>
              <a:tblPr/>
              <a:tblGrid>
                <a:gridCol w="1188720"/>
                <a:gridCol w="1737360"/>
                <a:gridCol w="2926080"/>
              </a:tblGrid>
              <a:tr h="502920">
                <a:tc>
                  <a:txBody>
                    <a:bodyPr/>
                    <a:lstStyle/>
                    <a:p>
                      <a:pPr indent="0" marL="0">
                        <a:buNone/>
                      </a:pPr>
                      <a:r>
                        <a:rPr lang="en-US" sz="1300" b="1" dirty="0">
                          <a:solidFill>
                            <a:srgbClr val="595959"/>
                          </a:solidFill>
                        </a:rPr>
                        <a:t>Family</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300" b="1" dirty="0">
                          <a:solidFill>
                            <a:srgbClr val="595959"/>
                          </a:solidFill>
                        </a:rPr>
                        <a:t>Features</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300" b="1" dirty="0">
                          <a:solidFill>
                            <a:srgbClr val="595959"/>
                          </a:solidFill>
                        </a:rPr>
                        <a:t>What they measure</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Financial</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FIN3 to FIN6</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Input and output concentration, fee ratios</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Structural</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STR1, STR2</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Input/output address ratio, address reuse</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Temporal</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TMP1, 2, 4, 5, 6, 7</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Address age, prior activity, recency</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Network</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NET1, NET2</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Earlier transactions linked by shared addresses</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bl>
          </a:graphicData>
        </a:graphic>
      </p:graphicFrame>
      <p:sp>
        <p:nvSpPr>
          <p:cNvPr id="5" name="Text 1"/>
          <p:cNvSpPr txBox="1"/>
          <p:nvPr/>
        </p:nvSpPr>
        <p:spPr>
          <a:xfrm>
            <a:off x="548640" y="4206240"/>
            <a:ext cx="585216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A1A"/>
                </a:solidFill>
              </a:rPr>
              <a:t>TMP6 is undefined for 84.53% of transactions, so a first-appearance flag keeps that fact.</a:t>
            </a:r>
            <a:endParaRPr lang="en-US" sz="1600" dirty="0"/>
          </a:p>
          <a:p>
            <a:pPr marL="342900" indent="-342900">
              <a:spcAft>
                <a:spcPts val="800"/>
              </a:spcAft>
              <a:buSzPct val="100000"/>
              <a:buChar char="•"/>
            </a:pPr>
            <a:r>
              <a:rPr lang="en-US" sz="1600" dirty="0">
                <a:solidFill>
                  <a:srgbClr val="1A1A1A"/>
                </a:solidFill>
              </a:rPr>
              <a:t>Fixing the age bug changed 3,174 TMP1 and 688 TMP2 values.</a:t>
            </a:r>
            <a:endParaRPr lang="en-US" sz="1600" dirty="0"/>
          </a:p>
          <a:p>
            <a:pPr marL="342900" indent="-342900">
              <a:spcAft>
                <a:spcPts val="800"/>
              </a:spcAft>
              <a:buSzPct val="100000"/>
              <a:buChar char="•"/>
            </a:pPr>
            <a:r>
              <a:rPr lang="en-US" sz="1600" dirty="0">
                <a:solidFill>
                  <a:srgbClr val="1A1A1A"/>
                </a:solidFill>
              </a:rPr>
              <a:t>FIN2 was dropped because the data cannot support it.</a:t>
            </a:r>
            <a:endParaRPr lang="en-US" sz="1600" dirty="0"/>
          </a:p>
        </p:txBody>
      </p:sp>
      <p:pic>
        <p:nvPicPr>
          <p:cNvPr id="6" name="Image 0" descr="C:\Users\koush\AppData\Local\Temp\claude\C--Users-koush-OneDrive-Documents-Financial-Forensics\91538277-9cdb-458b-a31d-87e91c32cb6c\scratchpad\shots\features.png">    </p:cNvPr>
          <p:cNvPicPr>
            <a:picLocks noChangeAspect="1"/>
          </p:cNvPicPr>
          <p:nvPr/>
        </p:nvPicPr>
        <p:blipFill>
          <a:blip r:embed="rId1"/>
          <a:stretch>
            <a:fillRect/>
          </a:stretch>
        </p:blipFill>
        <p:spPr>
          <a:xfrm>
            <a:off x="6583680" y="1463040"/>
            <a:ext cx="5029200" cy="2828925"/>
          </a:xfrm>
          <a:prstGeom prst="rect">
            <a:avLst/>
          </a:prstGeom>
        </p:spPr>
      </p:pic>
      <p:sp>
        <p:nvSpPr>
          <p:cNvPr id="7" name="Text 2"/>
          <p:cNvSpPr txBox="1"/>
          <p:nvPr/>
        </p:nvSpPr>
        <p:spPr>
          <a:xfrm>
            <a:off x="6583680" y="4365117"/>
            <a:ext cx="5029200" cy="457200"/>
          </a:xfrm>
          <a:prstGeom prst="rect">
            <a:avLst/>
          </a:prstGeom>
          <a:noFill/>
          <a:ln/>
        </p:spPr>
        <p:txBody>
          <a:bodyPr wrap="square" lIns="0" tIns="0" rIns="0" bIns="0" rtlCol="0" anchor="t"/>
          <a:lstStyle/>
          <a:p>
            <a:pPr indent="0" marL="0">
              <a:buNone/>
            </a:pPr>
            <a:r>
              <a:rPr lang="en-US" sz="1200" dirty="0">
                <a:solidFill>
                  <a:srgbClr val="595959"/>
                </a:solidFill>
              </a:rPr>
              <a:t>Dashboard view: feature families orbit one transaction.</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RobustScaler broke training, a quantile transform fixed it</a:t>
            </a:r>
            <a:endParaRPr lang="en-US" sz="3000" dirty="0"/>
          </a:p>
        </p:txBody>
      </p:sp>
      <p:pic>
        <p:nvPicPr>
          <p:cNvPr id="4" name="Image 0" descr="C:\Users\koush\AppData\Local\Temp\claude\C--Users-koush-OneDrive-Documents-Financial-Forensics\91538277-9cdb-458b-a31d-87e91c32cb6c\scratchpad\shots\scaling_robust.png">    </p:cNvPr>
          <p:cNvPicPr>
            <a:picLocks noChangeAspect="1"/>
          </p:cNvPicPr>
          <p:nvPr/>
        </p:nvPicPr>
        <p:blipFill>
          <a:blip r:embed="rId1"/>
          <a:stretch>
            <a:fillRect/>
          </a:stretch>
        </p:blipFill>
        <p:spPr>
          <a:xfrm>
            <a:off x="548640" y="1371600"/>
            <a:ext cx="5486400" cy="3086100"/>
          </a:xfrm>
          <a:prstGeom prst="rect">
            <a:avLst/>
          </a:prstGeom>
        </p:spPr>
      </p:pic>
      <p:sp>
        <p:nvSpPr>
          <p:cNvPr id="5" name="Text 1"/>
          <p:cNvSpPr txBox="1"/>
          <p:nvPr/>
        </p:nvSpPr>
        <p:spPr>
          <a:xfrm>
            <a:off x="548640" y="4530852"/>
            <a:ext cx="5486400" cy="457200"/>
          </a:xfrm>
          <a:prstGeom prst="rect">
            <a:avLst/>
          </a:prstGeom>
          <a:noFill/>
          <a:ln/>
        </p:spPr>
        <p:txBody>
          <a:bodyPr wrap="square" lIns="0" tIns="0" rIns="0" bIns="0" rtlCol="0" anchor="t"/>
          <a:lstStyle/>
          <a:p>
            <a:pPr indent="0" marL="0">
              <a:buNone/>
            </a:pPr>
            <a:r>
              <a:rPr lang="en-US" sz="1200" dirty="0">
                <a:solidFill>
                  <a:srgbClr val="595959"/>
                </a:solidFill>
              </a:rPr>
              <a:t>RobustScaler: a few values far off the chart, up to 2.29e10.</a:t>
            </a:r>
            <a:endParaRPr lang="en-US" sz="1200" dirty="0"/>
          </a:p>
        </p:txBody>
      </p:sp>
      <p:pic>
        <p:nvPicPr>
          <p:cNvPr id="6" name="Image 1" descr="C:\Users\koush\AppData\Local\Temp\claude\C--Users-koush-OneDrive-Documents-Financial-Forensics\91538277-9cdb-458b-a31d-87e91c32cb6c\scratchpad\shots\scaling.png">    </p:cNvPr>
          <p:cNvPicPr>
            <a:picLocks noChangeAspect="1"/>
          </p:cNvPicPr>
          <p:nvPr/>
        </p:nvPicPr>
        <p:blipFill>
          <a:blip r:embed="rId2"/>
          <a:stretch>
            <a:fillRect/>
          </a:stretch>
        </p:blipFill>
        <p:spPr>
          <a:xfrm>
            <a:off x="6217920" y="1371600"/>
            <a:ext cx="5486400" cy="3086100"/>
          </a:xfrm>
          <a:prstGeom prst="rect">
            <a:avLst/>
          </a:prstGeom>
        </p:spPr>
      </p:pic>
      <p:sp>
        <p:nvSpPr>
          <p:cNvPr id="7" name="Text 2"/>
          <p:cNvSpPr txBox="1"/>
          <p:nvPr/>
        </p:nvSpPr>
        <p:spPr>
          <a:xfrm>
            <a:off x="6217920" y="4530852"/>
            <a:ext cx="5486400" cy="457200"/>
          </a:xfrm>
          <a:prstGeom prst="rect">
            <a:avLst/>
          </a:prstGeom>
          <a:noFill/>
          <a:ln/>
        </p:spPr>
        <p:txBody>
          <a:bodyPr wrap="square" lIns="0" tIns="0" rIns="0" bIns="0" rtlCol="0" anchor="t"/>
          <a:lstStyle/>
          <a:p>
            <a:pPr indent="0" marL="0">
              <a:buNone/>
            </a:pPr>
            <a:r>
              <a:rPr lang="en-US" sz="1200" dirty="0">
                <a:solidFill>
                  <a:srgbClr val="595959"/>
                </a:solidFill>
              </a:rPr>
              <a:t>QuantileTransformer: every value inside plus or minus 5.1993.</a:t>
            </a:r>
            <a:endParaRPr lang="en-US" sz="1200" dirty="0"/>
          </a:p>
        </p:txBody>
      </p:sp>
      <p:sp>
        <p:nvSpPr>
          <p:cNvPr id="8" name="Text 3"/>
          <p:cNvSpPr txBox="1"/>
          <p:nvPr/>
        </p:nvSpPr>
        <p:spPr>
          <a:xfrm>
            <a:off x="548640" y="5394960"/>
            <a:ext cx="11064240" cy="822960"/>
          </a:xfrm>
          <a:prstGeom prst="rect">
            <a:avLst/>
          </a:prstGeom>
          <a:noFill/>
          <a:ln/>
        </p:spPr>
        <p:txBody>
          <a:bodyPr wrap="square" lIns="0" tIns="0" rIns="0" bIns="0" rtlCol="0" anchor="t"/>
          <a:lstStyle/>
          <a:p>
            <a:pPr indent="0" marL="0">
              <a:spcAft>
                <a:spcPts val="800"/>
              </a:spcAft>
              <a:buNone/>
            </a:pPr>
            <a:r>
              <a:rPr lang="en-US" sz="1600" dirty="0">
                <a:solidFill>
                  <a:srgbClr val="1A1A1A"/>
                </a:solidFill>
              </a:rPr>
              <a:t>Mean test PR-AUC over four seeds: 0.2212 with RobustScaler, 0.5165 with the QuantileTransformer. Seed 42 loss share from the top 1% of nodes: 100% to 37.6%.</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Thirty-seven experiments and audits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126480" cy="914400"/>
        </p:xfrm>
        <a:graphic>
          <a:graphicData uri="http://schemas.openxmlformats.org/drawingml/2006/table">
            <a:tbl>
              <a:tblPr/>
              <a:tblGrid>
                <a:gridCol w="2103120"/>
                <a:gridCol w="731520"/>
                <a:gridCol w="3291840"/>
              </a:tblGrid>
              <a:tr h="502920">
                <a:tc>
                  <a:txBody>
                    <a:bodyPr/>
                    <a:lstStyle/>
                    <a:p>
                      <a:pPr indent="0" marL="0">
                        <a:buNone/>
                      </a:pPr>
                      <a:r>
                        <a:rPr lang="en-US" sz="1300" b="1" dirty="0">
                          <a:solidFill>
                            <a:srgbClr val="595959"/>
                          </a:solidFill>
                        </a:rPr>
                        <a:t>Group</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300" b="1" dirty="0">
                          <a:solidFill>
                            <a:srgbClr val="595959"/>
                          </a:solidFill>
                        </a:rPr>
                        <a:t>Count</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300" b="1" dirty="0">
                          <a:solidFill>
                            <a:srgbClr val="595959"/>
                          </a:solidFill>
                        </a:rPr>
                        <a:t>Takeaway</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Audits and feature work</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11</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Static wallet snapshots found, age bug fixed, FIN2 dropped</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Classical baselines</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2</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Random Forest sets a high bar</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First GraphSAGE runs</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5</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Unstable runs and a huge loss</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Scaling fix</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4</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One preprocessing change doubled PR-AUC</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Ablations</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8</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Temporal removal lowers ROC-AUC only</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502920">
                <a:tc>
                  <a:txBody>
                    <a:bodyPr/>
                    <a:lstStyle/>
                    <a:p>
                      <a:pPr indent="0" marL="0">
                        <a:buNone/>
                      </a:pPr>
                      <a:r>
                        <a:rPr lang="en-US" sz="1400" dirty="0">
                          <a:solidFill>
                            <a:srgbClr val="1A1A1A"/>
                          </a:solidFill>
                        </a:rPr>
                        <a:t>Forensic layers</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7</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indent="0" marL="0">
                        <a:buNone/>
                      </a:pPr>
                      <a:r>
                        <a:rPr lang="en-US" sz="1400" dirty="0">
                          <a:solidFill>
                            <a:srgbClr val="1A1A1A"/>
                          </a:solidFill>
                        </a:rPr>
                        <a:t>Scores, evidence layers and the analyzer</a:t>
                      </a:r>
                      <a:endParaRPr lang="en-US" sz="14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bl>
          </a:graphicData>
        </a:graphic>
      </p:graphicFrame>
      <p:pic>
        <p:nvPicPr>
          <p:cNvPr id="5" name="Image 0" descr="C:\Users\koush\AppData\Local\Temp\claude\C--Users-koush-OneDrive-Documents-Financial-Forensics\91538277-9cdb-458b-a31d-87e91c32cb6c\scratchpad\shots\experiments.png">    </p:cNvPr>
          <p:cNvPicPr>
            <a:picLocks noChangeAspect="1"/>
          </p:cNvPicPr>
          <p:nvPr/>
        </p:nvPicPr>
        <p:blipFill>
          <a:blip r:embed="rId1"/>
          <a:stretch>
            <a:fillRect/>
          </a:stretch>
        </p:blipFill>
        <p:spPr>
          <a:xfrm>
            <a:off x="6858000" y="1463040"/>
            <a:ext cx="4754880" cy="2674620"/>
          </a:xfrm>
          <a:prstGeom prst="rect">
            <a:avLst/>
          </a:prstGeom>
        </p:spPr>
      </p:pic>
      <p:sp>
        <p:nvSpPr>
          <p:cNvPr id="6" name="Text 1"/>
          <p:cNvSpPr txBox="1"/>
          <p:nvPr/>
        </p:nvSpPr>
        <p:spPr>
          <a:xfrm>
            <a:off x="6858000" y="4210812"/>
            <a:ext cx="4754880" cy="457200"/>
          </a:xfrm>
          <a:prstGeom prst="rect">
            <a:avLst/>
          </a:prstGeom>
          <a:noFill/>
          <a:ln/>
        </p:spPr>
        <p:txBody>
          <a:bodyPr wrap="square" lIns="0" tIns="0" rIns="0" bIns="0" rtlCol="0" anchor="t"/>
          <a:lstStyle/>
          <a:p>
            <a:pPr indent="0" marL="0">
              <a:buNone/>
            </a:pPr>
            <a:r>
              <a:rPr lang="en-US" sz="1200" dirty="0">
                <a:solidFill>
                  <a:srgbClr val="595959"/>
                </a:solidFill>
              </a:rPr>
              <a:t>Dashboard view: each bar is one experiment.</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Random Forest leads, the graph model is close</a:t>
            </a:r>
            <a:endParaRPr lang="en-US" sz="3000" dirty="0"/>
          </a:p>
        </p:txBody>
      </p:sp>
      <p:graphicFrame>
        <p:nvGraphicFramePr>
          <p:cNvPr id="4" name="Chart 0" descr=""/>
          <p:cNvGraphicFramePr/>
          <p:nvPr/>
        </p:nvGraphicFramePr>
        <p:xfrm>
          <a:off x="548640" y="1371600"/>
          <a:ext cx="7315200" cy="47548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138160" y="1554480"/>
            <a:ext cx="3566160" cy="4389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A1A"/>
                </a:solidFill>
              </a:rPr>
              <a:t>Random Forest: precision 0.8465, F1 0.6069, PR-AUC 0.5469.</a:t>
            </a:r>
            <a:endParaRPr lang="en-US" sz="1600" dirty="0"/>
          </a:p>
          <a:p>
            <a:pPr marL="342900" indent="-342900">
              <a:spcAft>
                <a:spcPts val="800"/>
              </a:spcAft>
              <a:buSzPct val="100000"/>
              <a:buChar char="•"/>
            </a:pPr>
            <a:r>
              <a:rPr lang="en-US" sz="1600" dirty="0">
                <a:solidFill>
                  <a:srgbClr val="1A1A1A"/>
                </a:solidFill>
              </a:rPr>
              <a:t>GraphSAGE with quantile scaling, four seeds: PR-AUC 0.5165, ROC-AUC 0.8368, F1 0.5317.</a:t>
            </a:r>
            <a:endParaRPr lang="en-US" sz="1600" dirty="0"/>
          </a:p>
          <a:p>
            <a:pPr marL="342900" indent="-342900">
              <a:spcAft>
                <a:spcPts val="800"/>
              </a:spcAft>
              <a:buSzPct val="100000"/>
              <a:buChar char="•"/>
            </a:pPr>
            <a:r>
              <a:rPr lang="en-US" sz="1600" dirty="0">
                <a:solidFill>
                  <a:srgbClr val="1A1A1A"/>
                </a:solidFill>
              </a:rPr>
              <a:t>Logistic Regression has the best ROC-AUC (0.8921) and a poor PR-AUC.</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Removing temporal features lowers ROC-AUC only</a:t>
            </a:r>
            <a:endParaRPr lang="en-US" sz="3000" dirty="0"/>
          </a:p>
        </p:txBody>
      </p:sp>
      <p:graphicFrame>
        <p:nvGraphicFramePr>
          <p:cNvPr id="4" name="Chart 0"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772400" y="1554480"/>
            <a:ext cx="3931920" cy="4389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A1A"/>
                </a:solidFill>
              </a:rPr>
              <a:t>Four seeds per configuration, quantile scaling.</a:t>
            </a:r>
            <a:endParaRPr lang="en-US" sz="1600" dirty="0"/>
          </a:p>
          <a:p>
            <a:pPr marL="342900" indent="-342900">
              <a:spcAft>
                <a:spcPts val="800"/>
              </a:spcAft>
              <a:buSzPct val="100000"/>
              <a:buChar char="•"/>
            </a:pPr>
            <a:r>
              <a:rPr lang="en-US" sz="1600" dirty="0">
                <a:solidFill>
                  <a:srgbClr val="1A1A1A"/>
                </a:solidFill>
              </a:rPr>
              <a:t>Runs without temporal features: ROC-AUC 0.7724 to 0.8062. Full runs: 0.8240 to 0.8482.</a:t>
            </a:r>
            <a:endParaRPr lang="en-US" sz="1600" dirty="0"/>
          </a:p>
          <a:p>
            <a:pPr marL="342900" indent="-342900">
              <a:spcAft>
                <a:spcPts val="800"/>
              </a:spcAft>
              <a:buSzPct val="100000"/>
              <a:buChar char="•"/>
            </a:pPr>
            <a:r>
              <a:rPr lang="en-US" sz="1600" dirty="0">
                <a:solidFill>
                  <a:srgbClr val="1A1A1A"/>
                </a:solidFill>
              </a:rPr>
              <a:t>PR-AUC and F1 stay within about one standard deviation across all six.</a:t>
            </a:r>
            <a:endParaRPr lang="en-US" sz="1600" dirty="0"/>
          </a:p>
          <a:p>
            <a:pPr marL="342900" indent="-342900">
              <a:spcAft>
                <a:spcPts val="800"/>
              </a:spcAft>
              <a:buSzPct val="100000"/>
              <a:buChar char="•"/>
            </a:pPr>
            <a:r>
              <a:rPr lang="en-US" sz="1600" dirty="0">
                <a:solidFill>
                  <a:srgbClr val="1A1A1A"/>
                </a:solidFill>
              </a:rPr>
              <a:t>Adding the 14 features raised and steadied ROC-AUC, not PR-AUC or F1.</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Scoring the 157,205 unknown transactions</a:t>
            </a:r>
            <a:endParaRPr lang="en-US" sz="3000" dirty="0"/>
          </a:p>
        </p:txBody>
      </p:sp>
      <p:sp>
        <p:nvSpPr>
          <p:cNvPr id="4" name="Text 1"/>
          <p:cNvSpPr txBox="1"/>
          <p:nvPr/>
        </p:nvSpPr>
        <p:spPr>
          <a:xfrm>
            <a:off x="548640" y="1463040"/>
            <a:ext cx="5303520" cy="1737360"/>
          </a:xfrm>
          <a:prstGeom prst="rect">
            <a:avLst/>
          </a:prstGeom>
          <a:noFill/>
          <a:ln/>
        </p:spPr>
        <p:txBody>
          <a:bodyPr wrap="square" lIns="0" tIns="0" rIns="0" bIns="0" rtlCol="0" anchor="t"/>
          <a:lstStyle/>
          <a:p>
            <a:pPr indent="0" marL="0">
              <a:spcAft>
                <a:spcPts val="200"/>
              </a:spcAft>
              <a:buNone/>
            </a:pPr>
            <a:r>
              <a:rPr lang="en-US" sz="5400" b="1" dirty="0">
                <a:solidFill>
                  <a:srgbClr val="A65204"/>
                </a:solidFill>
              </a:rPr>
              <a:t>12,344</a:t>
            </a:r>
            <a:endParaRPr lang="en-US" sz="1800" dirty="0"/>
          </a:p>
          <a:p>
            <a:pPr indent="0" marL="0">
              <a:spcAft>
                <a:spcPts val="200"/>
              </a:spcAft>
              <a:buNone/>
            </a:pPr>
            <a:r>
              <a:rPr lang="en-US" sz="1800" dirty="0">
                <a:solidFill>
                  <a:srgbClr val="1A1A1A"/>
                </a:solidFill>
              </a:rPr>
              <a:t>flagged at the validated threshold 0.90 (7.85%)</a:t>
            </a:r>
            <a:endParaRPr lang="en-US" sz="1800" dirty="0"/>
          </a:p>
        </p:txBody>
      </p:sp>
      <p:sp>
        <p:nvSpPr>
          <p:cNvPr id="5" name="Text 2"/>
          <p:cNvSpPr txBox="1"/>
          <p:nvPr/>
        </p:nvSpPr>
        <p:spPr>
          <a:xfrm>
            <a:off x="548640" y="3383280"/>
            <a:ext cx="530352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A1A"/>
                </a:solidFill>
              </a:rPr>
              <a:t>Not an illicit rate: the unknown class has no labels.</a:t>
            </a:r>
            <a:endParaRPr lang="en-US" sz="1600" dirty="0"/>
          </a:p>
          <a:p>
            <a:pPr marL="342900" indent="-342900">
              <a:spcAft>
                <a:spcPts val="800"/>
              </a:spcAft>
              <a:buSzPct val="100000"/>
              <a:buChar char="•"/>
            </a:pPr>
            <a:r>
              <a:rPr lang="en-US" sz="1600" dirty="0">
                <a:solidFill>
                  <a:srgbClr val="1A1A1A"/>
                </a:solidFill>
              </a:rPr>
              <a:t>579 scores print as exactly 1.000000, yet top-20 logit margins run from 14.82 to 21.12.</a:t>
            </a:r>
            <a:endParaRPr lang="en-US" sz="1600" dirty="0"/>
          </a:p>
          <a:p>
            <a:pPr marL="342900" indent="-342900">
              <a:spcAft>
                <a:spcPts val="800"/>
              </a:spcAft>
              <a:buSzPct val="100000"/>
              <a:buChar char="•"/>
            </a:pPr>
            <a:r>
              <a:rPr lang="en-US" sz="1600" dirty="0">
                <a:solidFill>
                  <a:srgbClr val="1A1A1A"/>
                </a:solidFill>
              </a:rPr>
              <a:t>The threshold was chosen on validation and never tuned on the unknown class.</a:t>
            </a:r>
            <a:endParaRPr lang="en-US" sz="1600" dirty="0"/>
          </a:p>
        </p:txBody>
      </p:sp>
      <p:pic>
        <p:nvPicPr>
          <p:cNvPr id="6" name="Image 0" descr="C:\Users\koush\AppData\Local\Temp\claude\C--Users-koush-OneDrive-Documents-Financial-Forensics\91538277-9cdb-458b-a31d-87e91c32cb6c\scratchpad\shots\unknown.png">    </p:cNvPr>
          <p:cNvPicPr>
            <a:picLocks noChangeAspect="1"/>
          </p:cNvPicPr>
          <p:nvPr/>
        </p:nvPicPr>
        <p:blipFill>
          <a:blip r:embed="rId1"/>
          <a:stretch>
            <a:fillRect/>
          </a:stretch>
        </p:blipFill>
        <p:spPr>
          <a:xfrm>
            <a:off x="6126480" y="1463040"/>
            <a:ext cx="5486400" cy="3086100"/>
          </a:xfrm>
          <a:prstGeom prst="rect">
            <a:avLst/>
          </a:prstGeom>
        </p:spPr>
      </p:pic>
      <p:sp>
        <p:nvSpPr>
          <p:cNvPr id="7" name="Text 3"/>
          <p:cNvSpPr txBox="1"/>
          <p:nvPr/>
        </p:nvSpPr>
        <p:spPr>
          <a:xfrm>
            <a:off x="6126480" y="4622292"/>
            <a:ext cx="5486400" cy="457200"/>
          </a:xfrm>
          <a:prstGeom prst="rect">
            <a:avLst/>
          </a:prstGeom>
          <a:noFill/>
          <a:ln/>
        </p:spPr>
        <p:txBody>
          <a:bodyPr wrap="square" lIns="0" tIns="0" rIns="0" bIns="0" rtlCol="0" anchor="t"/>
          <a:lstStyle/>
          <a:p>
            <a:pPr indent="0" marL="0">
              <a:buNone/>
            </a:pPr>
            <a:r>
              <a:rPr lang="en-US" sz="1200" dirty="0">
                <a:solidFill>
                  <a:srgbClr val="595959"/>
                </a:solidFill>
              </a:rPr>
              <a:t>Dashboard view: nodes above the plane are flagged.</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A score comes with five separate kinds of evidence</a:t>
            </a:r>
            <a:endParaRPr lang="en-US" sz="3000" dirty="0"/>
          </a:p>
        </p:txBody>
      </p:sp>
      <p:pic>
        <p:nvPicPr>
          <p:cNvPr id="4" name="Image 0" descr="C:\Users\koush\AppData\Local\Temp\claude\C--Users-koush-OneDrive-Documents-Financial-Forensics\91538277-9cdb-458b-a31d-87e91c32cb6c\scratchpad\figs\fig_layers.png">    </p:cNvPr>
          <p:cNvPicPr>
            <a:picLocks noChangeAspect="1"/>
          </p:cNvPicPr>
          <p:nvPr/>
        </p:nvPicPr>
        <p:blipFill>
          <a:blip r:embed="rId1"/>
          <a:stretch>
            <a:fillRect/>
          </a:stretch>
        </p:blipFill>
        <p:spPr>
          <a:xfrm>
            <a:off x="731520" y="1371600"/>
            <a:ext cx="10698480" cy="2445367"/>
          </a:xfrm>
          <a:prstGeom prst="rect">
            <a:avLst/>
          </a:prstGeom>
        </p:spPr>
      </p:pic>
      <p:sp>
        <p:nvSpPr>
          <p:cNvPr id="5" name="Text 1"/>
          <p:cNvSpPr txBox="1"/>
          <p:nvPr/>
        </p:nvSpPr>
        <p:spPr>
          <a:xfrm>
            <a:off x="731520" y="4206240"/>
            <a:ext cx="10698480" cy="1920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A1A"/>
                </a:solidFill>
              </a:rPr>
              <a:t>Unusualness is a percentile among labelled transactions only. HIGH is 95 or above, LOW is 5 or below.</a:t>
            </a:r>
            <a:endParaRPr lang="en-US" sz="1700" dirty="0"/>
          </a:p>
          <a:p>
            <a:pPr marL="342900" indent="-342900">
              <a:spcAft>
                <a:spcPts val="800"/>
              </a:spcAft>
              <a:buSzPct val="100000"/>
              <a:buChar char="•"/>
            </a:pPr>
            <a:r>
              <a:rPr lang="en-US" sz="1700" dirty="0">
                <a:solidFill>
                  <a:srgbClr val="1A1A1A"/>
                </a:solidFill>
              </a:rPr>
              <a:t>Model sensitivity is the change in the illicit logit when one input is replaced by a training-only baseline.</a:t>
            </a:r>
            <a:endParaRPr lang="en-US" sz="1700" dirty="0"/>
          </a:p>
          <a:p>
            <a:pPr marL="342900" indent="-342900">
              <a:spcAft>
                <a:spcPts val="800"/>
              </a:spcAft>
              <a:buSzPct val="100000"/>
              <a:buChar char="•"/>
            </a:pPr>
            <a:r>
              <a:rPr lang="en-US" sz="1700" dirty="0">
                <a:solidFill>
                  <a:srgbClr val="1A1A1A"/>
                </a:solidFill>
              </a:rPr>
              <a:t>Neither establishes illicit activity. Together they support prioritising a transaction.</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Worked example: transaction 196098540</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017520"/>
                <a:gridCol w="1005840"/>
                <a:gridCol w="1280160"/>
                <a:gridCol w="914400"/>
                <a:gridCol w="914400"/>
                <a:gridCol w="1097280"/>
                <a:gridCol w="1554480"/>
                <a:gridCol w="1280160"/>
              </a:tblGrid>
              <a:tr h="457200">
                <a:tc>
                  <a:txBody>
                    <a:bodyPr/>
                    <a:lstStyle/>
                    <a:p>
                      <a:pPr algn="l" indent="0" marL="0">
                        <a:buNone/>
                      </a:pPr>
                      <a:r>
                        <a:rPr lang="en-US" sz="1300" b="1" dirty="0">
                          <a:solidFill>
                            <a:srgbClr val="595959"/>
                          </a:solidFill>
                        </a:rPr>
                        <a:t>Feature</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595959"/>
                          </a:solidFill>
                        </a:rPr>
                        <a:t>Observed</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595959"/>
                          </a:solidFill>
                        </a:rPr>
                        <a:t>Overall median</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595959"/>
                          </a:solidFill>
                        </a:rPr>
                        <a:t>Class 1</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595959"/>
                          </a:solidFill>
                        </a:rPr>
                        <a:t>Class 2</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595959"/>
                          </a:solidFill>
                        </a:rPr>
                        <a:t>Percentile</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595959"/>
                          </a:solidFill>
                        </a:rPr>
                        <a:t>Unusualness</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b="1" dirty="0">
                          <a:solidFill>
                            <a:srgbClr val="595959"/>
                          </a:solidFill>
                        </a:rPr>
                        <a:t>Sensitivity</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457200">
                <a:tc>
                  <a:txBody>
                    <a:bodyPr/>
                    <a:lstStyle/>
                    <a:p>
                      <a:pPr algn="l" indent="0" marL="0">
                        <a:buNone/>
                      </a:pPr>
                      <a:r>
                        <a:rPr lang="en-US" sz="1300" dirty="0">
                          <a:solidFill>
                            <a:srgbClr val="1A1A1A"/>
                          </a:solidFill>
                        </a:rPr>
                        <a:t>Prior Receiver Transactions (TMP5)</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320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3</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99.94</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HIGH</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-0.4102</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457200">
                <a:tc>
                  <a:txBody>
                    <a:bodyPr/>
                    <a:lstStyle/>
                    <a:p>
                      <a:pPr algn="l" indent="0" marL="0">
                        <a:buNone/>
                      </a:pPr>
                      <a:r>
                        <a:rPr lang="en-US" sz="1300" dirty="0">
                          <a:solidFill>
                            <a:srgbClr val="1A1A1A"/>
                          </a:solidFill>
                        </a:rPr>
                        <a:t>Output Address Age (TMP2)</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38</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99.97</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HIGH</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+0.2065</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457200">
                <a:tc>
                  <a:txBody>
                    <a:bodyPr/>
                    <a:lstStyle/>
                    <a:p>
                      <a:pPr algn="l" indent="0" marL="0">
                        <a:buNone/>
                      </a:pPr>
                      <a:r>
                        <a:rPr lang="en-US" sz="1300" dirty="0">
                          <a:solidFill>
                            <a:srgbClr val="1A1A1A"/>
                          </a:solidFill>
                        </a:rPr>
                        <a:t>Fee-to-Value Ratio (FIN5)</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0.1744</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0.0009</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0.0023</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0.0008</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96.02</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HIGH</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-0.0161</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457200">
                <a:tc>
                  <a:txBody>
                    <a:bodyPr/>
                    <a:lstStyle/>
                    <a:p>
                      <a:pPr algn="l" indent="0" marL="0">
                        <a:buNone/>
                      </a:pPr>
                      <a:r>
                        <a:rPr lang="en-US" sz="1300" dirty="0">
                          <a:solidFill>
                            <a:srgbClr val="1A1A1A"/>
                          </a:solidFill>
                        </a:rPr>
                        <a:t>Largest Input Share (FIN3)</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1.0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1.0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1.0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0.9998</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73.28</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NOT_EXTREME</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-0.0906</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457200">
                <a:tc>
                  <a:txBody>
                    <a:bodyPr/>
                    <a:lstStyle/>
                    <a:p>
                      <a:pPr algn="l" indent="0" marL="0">
                        <a:buNone/>
                      </a:pPr>
                      <a:r>
                        <a:rPr lang="en-US" sz="1300" dirty="0">
                          <a:solidFill>
                            <a:srgbClr val="1A1A1A"/>
                          </a:solidFill>
                        </a:rPr>
                        <a:t>Input Address Count</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1</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1</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1</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2</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26.72</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NOT_EXTREME</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-0.1843</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r h="457200">
                <a:tc>
                  <a:txBody>
                    <a:bodyPr/>
                    <a:lstStyle/>
                    <a:p>
                      <a:pPr algn="l" indent="0" marL="0">
                        <a:buNone/>
                      </a:pPr>
                      <a:r>
                        <a:rPr lang="en-US" sz="1300" dirty="0">
                          <a:solidFill>
                            <a:srgbClr val="1A1A1A"/>
                          </a:solidFill>
                        </a:rPr>
                        <a:t>Fee Rate (FIN6)</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4.0e-6</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1.03e-6</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1.05e-6</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8.98e-7</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94.47</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NOT_EXTREME</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c>
                  <a:txBody>
                    <a:bodyPr/>
                    <a:lstStyle/>
                    <a:p>
                      <a:pPr algn="ctr" indent="0" marL="0">
                        <a:buNone/>
                      </a:pPr>
                      <a:r>
                        <a:rPr lang="en-US" sz="1300" dirty="0">
                          <a:solidFill>
                            <a:srgbClr val="1A1A1A"/>
                          </a:solidFill>
                        </a:rPr>
                        <a:t>-0.1820</a:t>
                      </a:r>
                      <a:endParaRPr lang="en-US" sz="1300" dirty="0"/>
                    </a:p>
                  </a:txBody>
                  <a:tcPr marL="73152" marR="73152" marT="45720" marB="45720" anchor="ctr">
                    <a:lnL w="0" cap="flat" cmpd="sng" algn="ctr">
                      <a:noFill/>
                    </a:lnL>
                    <a:lnR w="0" cap="flat" cmpd="sng" algn="ctr">
                      <a:noFill/>
                    </a:lnR>
                    <a:lnT w="0" cap="flat" cmpd="sng" algn="ctr">
                      <a:noFill/>
                    </a:lnT>
                    <a:lnB w="6350" cap="flat" cmpd="sng" algn="ctr">
                      <a:solidFill>
                        <a:srgbClr val="D0D0D0"/>
                      </a:solidFill>
                      <a:prstDash val="solid"/>
                      <a:round/>
                      <a:headEnd type="none" w="med" len="med"/>
                      <a:tailEnd type="none" w="med" len="med"/>
                    </a:lnB>
                  </a:tcPr>
                </a:tc>
              </a:tr>
            </a:tbl>
          </a:graphicData>
        </a:graphic>
      </p:graphicFrame>
      <p:sp>
        <p:nvSpPr>
          <p:cNvPr id="5" name="Text 1"/>
          <p:cNvSpPr txBox="1"/>
          <p:nvPr/>
        </p:nvSpPr>
        <p:spPr>
          <a:xfrm>
            <a:off x="548640" y="5029200"/>
            <a:ext cx="11064240" cy="1097280"/>
          </a:xfrm>
          <a:prstGeom prst="rect">
            <a:avLst/>
          </a:prstGeom>
          <a:noFill/>
          <a:ln/>
        </p:spPr>
        <p:txBody>
          <a:bodyPr wrap="square" lIns="0" tIns="0" rIns="0" bIns="0" rtlCol="0" anchor="t"/>
          <a:lstStyle/>
          <a:p>
            <a:pPr indent="0" marL="0">
              <a:spcAft>
                <a:spcPts val="800"/>
              </a:spcAft>
              <a:buNone/>
            </a:pPr>
            <a:r>
              <a:rPr lang="en-US" sz="1600" dirty="0">
                <a:solidFill>
                  <a:srgbClr val="1A1A1A"/>
                </a:solidFill>
              </a:rPr>
              <a:t>The model is most sensitive to TMP5. FIN3 is not unusual, yet the model still reacts to it: unusualness and sensitivity are separate claims. Neither proves anything about the transaction.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What this does not show, and what comes next</a:t>
            </a:r>
            <a:endParaRPr lang="en-US" sz="3000" dirty="0"/>
          </a:p>
        </p:txBody>
      </p:sp>
      <p:sp>
        <p:nvSpPr>
          <p:cNvPr id="4" name="Text 1"/>
          <p:cNvSpPr txBox="1"/>
          <p:nvPr/>
        </p:nvSpPr>
        <p:spPr>
          <a:xfrm>
            <a:off x="548640" y="1371600"/>
            <a:ext cx="5303520" cy="365760"/>
          </a:xfrm>
          <a:prstGeom prst="rect">
            <a:avLst/>
          </a:prstGeom>
          <a:noFill/>
          <a:ln/>
        </p:spPr>
        <p:txBody>
          <a:bodyPr wrap="square" lIns="0" tIns="0" rIns="0" bIns="0" rtlCol="0" anchor="ctr"/>
          <a:lstStyle/>
          <a:p>
            <a:pPr indent="0" marL="0">
              <a:buNone/>
            </a:pPr>
            <a:r>
              <a:rPr lang="en-US" sz="2000" b="1" dirty="0">
                <a:solidFill>
                  <a:srgbClr val="1A1A1A"/>
                </a:solidFill>
              </a:rPr>
              <a:t>Limits</a:t>
            </a:r>
            <a:endParaRPr lang="en-US" sz="2000" dirty="0"/>
          </a:p>
        </p:txBody>
      </p:sp>
      <p:sp>
        <p:nvSpPr>
          <p:cNvPr id="5" name="Text 2"/>
          <p:cNvSpPr txBox="1"/>
          <p:nvPr/>
        </p:nvSpPr>
        <p:spPr>
          <a:xfrm>
            <a:off x="548640" y="1828800"/>
            <a:ext cx="5303520" cy="4297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A1A"/>
                </a:solidFill>
              </a:rPr>
              <a:t>One GraphSAGE configuration and one chronological split.</a:t>
            </a:r>
            <a:endParaRPr lang="en-US" sz="1600" dirty="0"/>
          </a:p>
          <a:p>
            <a:pPr marL="342900" indent="-342900">
              <a:spcAft>
                <a:spcPts val="800"/>
              </a:spcAft>
              <a:buSzPct val="100000"/>
              <a:buChar char="•"/>
            </a:pPr>
            <a:r>
              <a:rPr lang="en-US" sz="1600" dirty="0">
                <a:solidFill>
                  <a:srgbClr val="1A1A1A"/>
                </a:solidFill>
              </a:rPr>
              <a:t>Illicit prevalence falls from 11.58% to 4.61%.</a:t>
            </a:r>
            <a:endParaRPr lang="en-US" sz="1600" dirty="0"/>
          </a:p>
          <a:p>
            <a:pPr marL="342900" indent="-342900">
              <a:spcAft>
                <a:spcPts val="800"/>
              </a:spcAft>
              <a:buSzPct val="100000"/>
              <a:buChar char="•"/>
            </a:pPr>
            <a:r>
              <a:rPr lang="en-US" sz="1600" dirty="0">
                <a:solidFill>
                  <a:srgbClr val="1A1A1A"/>
                </a:solidFill>
              </a:rPr>
              <a:t>Random Forest is stronger and has not seen feature set B.</a:t>
            </a:r>
            <a:endParaRPr lang="en-US" sz="1600" dirty="0"/>
          </a:p>
          <a:p>
            <a:pPr marL="342900" indent="-342900">
              <a:spcAft>
                <a:spcPts val="800"/>
              </a:spcAft>
              <a:buSzPct val="100000"/>
              <a:buChar char="•"/>
            </a:pPr>
            <a:r>
              <a:rPr lang="en-US" sz="1600" dirty="0">
                <a:solidFill>
                  <a:srgbClr val="1A1A1A"/>
                </a:solidFill>
              </a:rPr>
              <a:t>Most inherited features have no verified meaning.</a:t>
            </a:r>
            <a:endParaRPr lang="en-US" sz="1600" dirty="0"/>
          </a:p>
          <a:p>
            <a:pPr marL="342900" indent="-342900">
              <a:spcAft>
                <a:spcPts val="800"/>
              </a:spcAft>
              <a:buSzPct val="100000"/>
              <a:buChar char="•"/>
            </a:pPr>
            <a:r>
              <a:rPr lang="en-US" sz="1600" dirty="0">
                <a:solidFill>
                  <a:srgbClr val="1A1A1A"/>
                </a:solidFill>
              </a:rPr>
              <a:t>Ablations are associations because the families overlap.</a:t>
            </a:r>
            <a:endParaRPr lang="en-US" sz="1600" dirty="0"/>
          </a:p>
          <a:p>
            <a:pPr marL="342900" indent="-342900">
              <a:spcAft>
                <a:spcPts val="800"/>
              </a:spcAft>
              <a:buSzPct val="100000"/>
              <a:buChar char="•"/>
            </a:pPr>
            <a:r>
              <a:rPr lang="en-US" sz="1600" dirty="0">
                <a:solidFill>
                  <a:srgbClr val="1A1A1A"/>
                </a:solidFill>
              </a:rPr>
              <a:t>The unknown class has no ground truth.</a:t>
            </a:r>
            <a:endParaRPr lang="en-US" sz="1600" dirty="0"/>
          </a:p>
        </p:txBody>
      </p:sp>
      <p:sp>
        <p:nvSpPr>
          <p:cNvPr id="6" name="Text 3"/>
          <p:cNvSpPr txBox="1"/>
          <p:nvPr/>
        </p:nvSpPr>
        <p:spPr>
          <a:xfrm>
            <a:off x="6309360" y="1371600"/>
            <a:ext cx="5303520" cy="365760"/>
          </a:xfrm>
          <a:prstGeom prst="rect">
            <a:avLst/>
          </a:prstGeom>
          <a:noFill/>
          <a:ln/>
        </p:spPr>
        <p:txBody>
          <a:bodyPr wrap="square" lIns="0" tIns="0" rIns="0" bIns="0" rtlCol="0" anchor="ctr"/>
          <a:lstStyle/>
          <a:p>
            <a:pPr indent="0" marL="0">
              <a:buNone/>
            </a:pPr>
            <a:r>
              <a:rPr lang="en-US" sz="2000" b="1" dirty="0">
                <a:solidFill>
                  <a:srgbClr val="1A1A1A"/>
                </a:solidFill>
              </a:rPr>
              <a:t>Next</a:t>
            </a:r>
            <a:endParaRPr lang="en-US" sz="2000" dirty="0"/>
          </a:p>
        </p:txBody>
      </p:sp>
      <p:sp>
        <p:nvSpPr>
          <p:cNvPr id="7" name="Text 4"/>
          <p:cNvSpPr txBox="1"/>
          <p:nvPr/>
        </p:nvSpPr>
        <p:spPr>
          <a:xfrm>
            <a:off x="6309360" y="1828800"/>
            <a:ext cx="5303520" cy="4297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A1A"/>
                </a:solidFill>
              </a:rPr>
              <a:t>Train Random Forest and boosting on feature set B.</a:t>
            </a:r>
            <a:endParaRPr lang="en-US" sz="1600" dirty="0"/>
          </a:p>
          <a:p>
            <a:pPr marL="342900" indent="-342900">
              <a:spcAft>
                <a:spcPts val="800"/>
              </a:spcAft>
              <a:buSzPct val="100000"/>
              <a:buChar char="•"/>
            </a:pPr>
            <a:r>
              <a:rPr lang="en-US" sz="1600" dirty="0">
                <a:solidFill>
                  <a:srgbClr val="1A1A1A"/>
                </a:solidFill>
              </a:rPr>
              <a:t>Evaluate on several time boundaries.</a:t>
            </a:r>
            <a:endParaRPr lang="en-US" sz="1600" dirty="0"/>
          </a:p>
          <a:p>
            <a:pPr marL="342900" indent="-342900">
              <a:spcAft>
                <a:spcPts val="800"/>
              </a:spcAft>
              <a:buSzPct val="100000"/>
              <a:buChar char="•"/>
            </a:pPr>
            <a:r>
              <a:rPr lang="en-US" sz="1600" dirty="0">
                <a:solidFill>
                  <a:srgbClr val="1A1A1A"/>
                </a:solidFill>
              </a:rPr>
              <a:t>Report precision among the top k flagged transactions.</a:t>
            </a:r>
            <a:endParaRPr lang="en-US" sz="1600" dirty="0"/>
          </a:p>
          <a:p>
            <a:pPr marL="342900" indent="-342900">
              <a:spcAft>
                <a:spcPts val="800"/>
              </a:spcAft>
              <a:buSzPct val="100000"/>
              <a:buChar char="•"/>
            </a:pPr>
            <a:r>
              <a:rPr lang="en-US" sz="1600" dirty="0">
                <a:solidFill>
                  <a:srgbClr val="1A1A1A"/>
                </a:solidFill>
              </a:rPr>
              <a:t>Test the fingerprint rule alone on the test split.</a:t>
            </a:r>
            <a:endParaRPr lang="en-US" sz="1600" dirty="0"/>
          </a:p>
          <a:p>
            <a:pPr marL="342900" indent="-342900">
              <a:spcAft>
                <a:spcPts val="800"/>
              </a:spcAft>
              <a:buSzPct val="100000"/>
              <a:buChar char="•"/>
            </a:pPr>
            <a:r>
              <a:rPr lang="en-US" sz="1600" dirty="0">
                <a:solidFill>
                  <a:srgbClr val="1A1A1A"/>
                </a:solidFill>
              </a:rPr>
              <a:t>Run ten seeds and repeat attribution with other baselines.</a:t>
            </a:r>
            <a:endParaRPr lang="en-US" sz="1600" dirty="0"/>
          </a:p>
          <a:p>
            <a:pPr marL="342900" indent="-342900">
              <a:spcAft>
                <a:spcPts val="800"/>
              </a:spcAft>
              <a:buSzPct val="100000"/>
              <a:buChar char="•"/>
            </a:pPr>
            <a:r>
              <a:rPr lang="en-US" sz="1600" dirty="0">
                <a:solidFill>
                  <a:srgbClr val="1A1A1A"/>
                </a:solidFill>
              </a:rPr>
              <a:t>Audit the 150 inherited features not yet examined.</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t"/>
          <a:lstStyle/>
          <a:p>
            <a:pPr algn="l" indent="0" marL="0">
              <a:buNone/>
            </a:pPr>
            <a:r>
              <a:rPr lang="en-US" sz="3000" b="1" dirty="0">
                <a:solidFill>
                  <a:srgbClr val="1A1A1A"/>
                </a:solidFill>
              </a:rPr>
              <a:t>Explore it yourself</a:t>
            </a:r>
            <a:endParaRPr lang="en-US" sz="3000" dirty="0"/>
          </a:p>
        </p:txBody>
      </p:sp>
      <p:sp>
        <p:nvSpPr>
          <p:cNvPr id="4" name="Text 1"/>
          <p:cNvSpPr txBox="1"/>
          <p:nvPr/>
        </p:nvSpPr>
        <p:spPr>
          <a:xfrm>
            <a:off x="548640" y="1554480"/>
            <a:ext cx="5120640" cy="43891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1A1A1A"/>
                </a:solidFill>
              </a:rPr>
              <a:t>The dashboard lists every experiment with why we ran it and what it taught us.</a:t>
            </a:r>
            <a:endParaRPr lang="en-US" sz="1800" dirty="0"/>
          </a:p>
          <a:p>
            <a:pPr marL="342900" indent="-342900">
              <a:spcAft>
                <a:spcPts val="800"/>
              </a:spcAft>
              <a:buSzPct val="100000"/>
              <a:buChar char="•"/>
            </a:pPr>
            <a:r>
              <a:rPr lang="en-US" sz="1800" dirty="0">
                <a:solidFill>
                  <a:srgbClr val="1A1A1A"/>
                </a:solidFill>
              </a:rPr>
              <a:t>Open dashboard/index.html from the repository root. No install needed.</a:t>
            </a:r>
            <a:endParaRPr lang="en-US" sz="1800" dirty="0"/>
          </a:p>
          <a:p>
            <a:pPr marL="342900" indent="-342900">
              <a:spcAft>
                <a:spcPts val="800"/>
              </a:spcAft>
              <a:buSzPct val="100000"/>
              <a:buChar char="•"/>
            </a:pPr>
            <a:r>
              <a:rPr lang="en-US" sz="1800" dirty="0">
                <a:solidFill>
                  <a:srgbClr val="1A1A1A"/>
                </a:solidFill>
              </a:rPr>
              <a:t>The README explains setup and the order of the notebooks.</a:t>
            </a:r>
            <a:endParaRPr lang="en-US" sz="1800" dirty="0"/>
          </a:p>
          <a:p>
            <a:pPr marL="342900" indent="-342900">
              <a:spcAft>
                <a:spcPts val="800"/>
              </a:spcAft>
              <a:buSzPct val="100000"/>
              <a:buChar char="•"/>
            </a:pPr>
            <a:r>
              <a:rPr lang="en-US" sz="1800" dirty="0">
                <a:solidFill>
                  <a:srgbClr val="1A1A1A"/>
                </a:solidFill>
              </a:rPr>
              <a:t>Suspicious is not proven fraudulent. The model supplies evidence, and the judgement stays human.</a:t>
            </a:r>
            <a:endParaRPr lang="en-US" sz="1800" dirty="0"/>
          </a:p>
        </p:txBody>
      </p:sp>
      <p:pic>
        <p:nvPicPr>
          <p:cNvPr id="5" name="Image 0" descr="C:\Users\koush\AppData\Local\Temp\claude\C--Users-koush-OneDrive-Documents-Financial-Forensics\91538277-9cdb-458b-a31d-87e91c32cb6c\scratchpad\shots\hero.png">    </p:cNvPr>
          <p:cNvPicPr>
            <a:picLocks noChangeAspect="1"/>
          </p:cNvPicPr>
          <p:nvPr/>
        </p:nvPicPr>
        <p:blipFill>
          <a:blip r:embed="rId1"/>
          <a:stretch>
            <a:fillRect/>
          </a:stretch>
        </p:blipFill>
        <p:spPr>
          <a:xfrm>
            <a:off x="5943600" y="1554480"/>
            <a:ext cx="5669280" cy="3188970"/>
          </a:xfrm>
          <a:prstGeom prst="rect">
            <a:avLst/>
          </a:prstGeom>
        </p:spPr>
      </p:pic>
      <p:sp>
        <p:nvSpPr>
          <p:cNvPr id="6" name="Text 2"/>
          <p:cNvSpPr txBox="1"/>
          <p:nvPr/>
        </p:nvSpPr>
        <p:spPr>
          <a:xfrm>
            <a:off x="5943600" y="4816602"/>
            <a:ext cx="5669280" cy="457200"/>
          </a:xfrm>
          <a:prstGeom prst="rect">
            <a:avLst/>
          </a:prstGeom>
          <a:noFill/>
          <a:ln/>
        </p:spPr>
        <p:txBody>
          <a:bodyPr wrap="square" lIns="0" tIns="0" rIns="0" bIns="0" rtlCol="0" anchor="t"/>
          <a:lstStyle/>
          <a:p>
            <a:pPr indent="0" marL="0">
              <a:buNone/>
            </a:pPr>
            <a:r>
              <a:rPr lang="en-US" sz="1200" dirty="0">
                <a:solidFill>
                  <a:srgbClr val="595959"/>
                </a:solidFill>
              </a:rPr>
              <a:t>Dashboard landing view.</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C8C"/>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Bitcoin Transaction Forensics for Suspicious Activity Detection</dc:title>
  <dc:subject>PptxGenJS Presentation</dc:subject>
  <dc:creator>Krishna Koushik; Peta Siva Nandhan Reddy</dc:creator>
  <cp:lastModifiedBy>Krishna Koushik; Peta Siva Nandhan Reddy</cp:lastModifiedBy>
  <cp:revision>1</cp:revision>
  <dcterms:created xsi:type="dcterms:W3CDTF">2026-10-22T10:05:15Z</dcterms:created>
  <dcterms:modified xsi:type="dcterms:W3CDTF">2026-10-22T10:05:15Z</dcterms:modified>
</cp:coreProperties>
</file>